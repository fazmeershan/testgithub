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Today we walk through the values that unite Dawodia Holding: our purpose, our people, how we execute, how we work as one team, how we innovate, how we take ownership, and the future we are building together.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are one organization. Every department plays a role, and our daily decisions should support Dawodia Holding's long-term vision. Key message: Together, we turn our vision into reality.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people are our greatest strength. We empower ownership, encourage learning, respect every role, and build an environment where everyone can grow. Key message: Strong people build strong organizations.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Excellence in execution: set clear, measurable targets; focus on quality, efficiency and timely delivery; remove unnecessary processes, delays and rework; and continuously improve. Key message: Excellence is not one achievement—it is a daily habit.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team: break silos, share knowledge, solve problems together, communicate openly and respectfully, and support colleagues through challenges. Key message: Individual effort starts the journey; teamwork completes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Innovation and change: embrace technology and digital transformation, look for smarter ways of working, challenge outdated processes constructively, use data for better decisions, and stay open to change. Key message: The future belongs to organizations that are willing to evolve.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Ownership and accountability: own commitments and deadlines, raise problems early and clearly, don't let issues become crises, focus on solutions, and learn from every result. Key message: Ownership turns responsibility into results.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future: strengthen the organization through people, processes and technology; build a culture of trust, accountability and innovation; turn challenges into opportunities; create sustainable growth; and leave a stronger organization for the next generation.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Closing: Our future is not something we wait for. Our future is something we build—together. Thank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awodia Holding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2377440" cy="74295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737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C8A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VALUES  ·  2026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057400"/>
            <a:ext cx="640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Values,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Direction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5661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D5DE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Organization. One Vision. One Direction.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4348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   ·   People   ·   Excellence   ·   One Team   ·   Innovation   ·   Ownership   ·   Future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36576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400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8A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60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645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D5DE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PURPOSE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201168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Organization.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Vision.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Direction.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754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DAWODIA HOLDING  ·  OUR VALUES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4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  <p:pic>
        <p:nvPicPr>
          <p:cNvPr id="8" name="Image 1" descr="Dawodia Holding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274320"/>
            <a:ext cx="1325880" cy="414337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4114800" y="960120"/>
            <a:ext cx="502920" cy="502920"/>
          </a:xfrm>
          <a:prstGeom prst="ellipse">
            <a:avLst/>
          </a:prstGeom>
          <a:solidFill>
            <a:srgbClr val="F4ECD8"/>
          </a:solidFill>
          <a:ln w="12700">
            <a:solidFill>
              <a:srgbClr val="F4ECD8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0588" y="1095908"/>
            <a:ext cx="231343" cy="231343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800600" y="960120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more than individual departments—we are one organization.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4114800" y="1673352"/>
            <a:ext cx="502920" cy="502920"/>
          </a:xfrm>
          <a:prstGeom prst="ellipse">
            <a:avLst/>
          </a:prstGeom>
          <a:solidFill>
            <a:srgbClr val="F4ECD8"/>
          </a:solidFill>
          <a:ln w="12700">
            <a:solidFill>
              <a:srgbClr val="F4ECD8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0588" y="1809140"/>
            <a:ext cx="231343" cy="231343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4800600" y="1673352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department contributes to the success of Dawodia Holding.</a:t>
            </a:r>
            <a:endParaRPr lang="en-US" sz="1500" dirty="0"/>
          </a:p>
        </p:txBody>
      </p:sp>
      <p:sp>
        <p:nvSpPr>
          <p:cNvPr id="15" name="Shape 9"/>
          <p:cNvSpPr/>
          <p:nvPr/>
        </p:nvSpPr>
        <p:spPr>
          <a:xfrm>
            <a:off x="4114800" y="2386584"/>
            <a:ext cx="502920" cy="502920"/>
          </a:xfrm>
          <a:prstGeom prst="ellipse">
            <a:avLst/>
          </a:prstGeom>
          <a:solidFill>
            <a:srgbClr val="F4ECD8"/>
          </a:solidFill>
          <a:ln w="12700">
            <a:solidFill>
              <a:srgbClr val="F4ECD8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50588" y="2522372"/>
            <a:ext cx="231343" cy="231343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4800600" y="2386584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daily decisions should support the company’s long-term vision.</a:t>
            </a:r>
            <a:endParaRPr lang="en-US" sz="1500" dirty="0"/>
          </a:p>
        </p:txBody>
      </p:sp>
      <p:sp>
        <p:nvSpPr>
          <p:cNvPr id="18" name="Shape 11"/>
          <p:cNvSpPr/>
          <p:nvPr/>
        </p:nvSpPr>
        <p:spPr>
          <a:xfrm>
            <a:off x="4114800" y="3099816"/>
            <a:ext cx="502920" cy="502920"/>
          </a:xfrm>
          <a:prstGeom prst="ellipse">
            <a:avLst/>
          </a:prstGeom>
          <a:solidFill>
            <a:srgbClr val="F4ECD8"/>
          </a:solidFill>
          <a:ln w="12700">
            <a:solidFill>
              <a:srgbClr val="F4ECD8"/>
            </a:solidFill>
            <a:prstDash val="solid"/>
          </a:ln>
        </p:spPr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50588" y="3235604"/>
            <a:ext cx="231343" cy="231343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4800600" y="3099816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we move in one direction, our collective impact becomes stronger.</a:t>
            </a:r>
            <a:endParaRPr lang="en-US" sz="1500" dirty="0"/>
          </a:p>
        </p:txBody>
      </p:sp>
      <p:sp>
        <p:nvSpPr>
          <p:cNvPr id="21" name="Shape 13"/>
          <p:cNvSpPr/>
          <p:nvPr/>
        </p:nvSpPr>
        <p:spPr>
          <a:xfrm>
            <a:off x="4114800" y="3840480"/>
            <a:ext cx="4572000" cy="685800"/>
          </a:xfrm>
          <a:prstGeom prst="roundRect">
            <a:avLst>
              <a:gd name="adj" fmla="val 13333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43400" y="4050792"/>
            <a:ext cx="274320" cy="274320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4754880" y="384048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Together, we turn our vision into reality.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awodia Holding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0" y="274320"/>
            <a:ext cx="1325880" cy="414337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8A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 OUR PEOPLE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4754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8A94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DAWODIA HOLDING  ·  OUR VALUES</a:t>
            </a:r>
            <a:endParaRPr lang="en-US" sz="800" dirty="0"/>
          </a:p>
        </p:txBody>
      </p:sp>
      <p:sp>
        <p:nvSpPr>
          <p:cNvPr id="5" name="Text 2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4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64008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 Are Our Greatest Strength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457200" y="150876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3E8EF"/>
            </a:solidFill>
            <a:prstDash val="solid"/>
          </a:ln>
          <a:effectLst>
            <a:outerShdw sx="100000" sy="100000" kx="0" ky="0" algn="bl" rotWithShape="0" blurRad="152400" dist="38100" dir="5400000">
              <a:srgbClr val="0B1F33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685800" y="1737360"/>
            <a:ext cx="457200" cy="45720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" y="1860804"/>
            <a:ext cx="210312" cy="21031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80160" y="173736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Ownership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22860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Empower people to take ownership of their responsibilities.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3337560" y="150876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3E8EF"/>
            </a:solidFill>
            <a:prstDash val="solid"/>
          </a:ln>
          <a:effectLst>
            <a:outerShdw sx="100000" sy="100000" kx="0" ky="0" algn="bl" rotWithShape="0" blurRad="152400" dist="38100" dir="5400000">
              <a:srgbClr val="0B1F33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3566160" y="1737360"/>
            <a:ext cx="457200" cy="45720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9604" y="1860804"/>
            <a:ext cx="210312" cy="21031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160520" y="173736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3566160" y="22860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Encourage learning, development, and knowledge sharing.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457200" y="324612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3E8EF"/>
            </a:solidFill>
            <a:prstDash val="solid"/>
          </a:ln>
          <a:effectLst>
            <a:outerShdw sx="100000" sy="100000" kx="0" ky="0" algn="bl" rotWithShape="0" blurRad="152400" dist="38100" dir="5400000">
              <a:srgbClr val="0B1F33">
                <a:alpha val="12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685800" y="3474720"/>
            <a:ext cx="457200" cy="45720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244" y="3598164"/>
            <a:ext cx="210312" cy="21031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280160" y="347472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Respect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685800" y="40233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Respect every role and recognize every contribution.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3337560" y="324612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3E8EF"/>
            </a:solidFill>
            <a:prstDash val="solid"/>
          </a:ln>
          <a:effectLst>
            <a:outerShdw sx="100000" sy="100000" kx="0" ky="0" algn="bl" rotWithShape="0" blurRad="152400" dist="38100" dir="5400000">
              <a:srgbClr val="0B1F33">
                <a:alpha val="12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3566160" y="3474720"/>
            <a:ext cx="457200" cy="45720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89604" y="3598164"/>
            <a:ext cx="210312" cy="210312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4160520" y="347472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Opportunity</a:t>
            </a:r>
            <a:endParaRPr lang="en-US" sz="1400" dirty="0"/>
          </a:p>
        </p:txBody>
      </p:sp>
      <p:sp>
        <p:nvSpPr>
          <p:cNvPr id="26" name="Text 19"/>
          <p:cNvSpPr txBox="1"/>
          <p:nvPr/>
        </p:nvSpPr>
        <p:spPr>
          <a:xfrm>
            <a:off x="3566160" y="40233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 environment where employees can grow and succeed.</a:t>
            </a:r>
            <a:endParaRPr lang="en-US" sz="1300" dirty="0"/>
          </a:p>
        </p:txBody>
      </p:sp>
      <p:sp>
        <p:nvSpPr>
          <p:cNvPr id="27" name="Shape 20"/>
          <p:cNvSpPr/>
          <p:nvPr/>
        </p:nvSpPr>
        <p:spPr>
          <a:xfrm>
            <a:off x="6172200" y="1508760"/>
            <a:ext cx="2514600" cy="3200400"/>
          </a:xfrm>
          <a:prstGeom prst="roundRect">
            <a:avLst>
              <a:gd name="adj" fmla="val 4364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  <a:effectLst>
            <a:outerShdw sx="100000" sy="100000" kx="0" ky="0" algn="bl" rotWithShape="0" blurRad="152400" dist="38100" dir="5400000">
              <a:srgbClr val="0B1F33">
                <a:alpha val="12000"/>
              </a:srgbClr>
            </a:outerShdw>
          </a:effectLst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46520" y="1783080"/>
            <a:ext cx="411480" cy="41148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6446520" y="2377440"/>
            <a:ext cx="2011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Strong people build strong organizations.</a:t>
            </a:r>
            <a:endParaRPr lang="en-US" sz="2200" dirty="0"/>
          </a:p>
        </p:txBody>
      </p:sp>
      <p:sp>
        <p:nvSpPr>
          <p:cNvPr id="30" name="Text 22"/>
          <p:cNvSpPr txBox="1"/>
          <p:nvPr/>
        </p:nvSpPr>
        <p:spPr>
          <a:xfrm>
            <a:off x="6446520" y="42062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C8A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MESSAGE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awodia Holding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0" y="274320"/>
            <a:ext cx="1325880" cy="414337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8A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 EXCELLENCE IN EXECUTION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4754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8A94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DAWODIA HOLDING  ·  OUR VALUES</a:t>
            </a:r>
            <a:endParaRPr lang="en-US" sz="800" dirty="0"/>
          </a:p>
        </p:txBody>
      </p:sp>
      <p:sp>
        <p:nvSpPr>
          <p:cNvPr id="5" name="Text 2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4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Right. </a:t>
            </a:r>
            <a:pPr indent="0" marL="0">
              <a:buNone/>
            </a:pPr>
            <a:r>
              <a:rPr lang="en-US" sz="2800" b="1" dirty="0">
                <a:solidFill>
                  <a:srgbClr val="0B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Better. </a:t>
            </a:r>
            <a:pPr indent="0" marL="0">
              <a:buNone/>
            </a:pPr>
            <a:r>
              <a:rPr lang="en-US" sz="2800" b="1" dirty="0">
                <a:solidFill>
                  <a:srgbClr val="C8A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Consistently.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1417320" y="2148840"/>
            <a:ext cx="6309360" cy="0"/>
          </a:xfrm>
          <a:prstGeom prst="line">
            <a:avLst/>
          </a:prstGeom>
          <a:noFill/>
          <a:ln w="19050">
            <a:solidFill>
              <a:srgbClr val="D9C38F"/>
            </a:solidFill>
            <a:prstDash val="dash"/>
          </a:ln>
        </p:spPr>
      </p:sp>
      <p:sp>
        <p:nvSpPr>
          <p:cNvPr id="8" name="Shape 5"/>
          <p:cNvSpPr/>
          <p:nvPr/>
        </p:nvSpPr>
        <p:spPr>
          <a:xfrm>
            <a:off x="1051560" y="1783080"/>
            <a:ext cx="731520" cy="73152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070" y="1980590"/>
            <a:ext cx="336499" cy="336499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57200" y="265176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C8A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28803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Targets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20040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clear objectives and measurable targets.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3154680" y="1783080"/>
            <a:ext cx="731520" cy="73152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2190" y="1980590"/>
            <a:ext cx="336499" cy="336499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2560320" y="265176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C8A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</a:t>
            </a:r>
            <a:endParaRPr lang="en-US" sz="900" dirty="0"/>
          </a:p>
        </p:txBody>
      </p:sp>
      <p:sp>
        <p:nvSpPr>
          <p:cNvPr id="16" name="Text 11"/>
          <p:cNvSpPr txBox="1"/>
          <p:nvPr/>
        </p:nvSpPr>
        <p:spPr>
          <a:xfrm>
            <a:off x="2560320" y="28803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&amp; Speed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2651760" y="320040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on quality, efficiency, and timely delivery.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5257800" y="1783080"/>
            <a:ext cx="731520" cy="73152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5310" y="1980590"/>
            <a:ext cx="336499" cy="336499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4663440" y="265176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C8A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</a:t>
            </a:r>
            <a:endParaRPr lang="en-US" sz="900" dirty="0"/>
          </a:p>
        </p:txBody>
      </p:sp>
      <p:sp>
        <p:nvSpPr>
          <p:cNvPr id="21" name="Text 15"/>
          <p:cNvSpPr txBox="1"/>
          <p:nvPr/>
        </p:nvSpPr>
        <p:spPr>
          <a:xfrm>
            <a:off x="4663440" y="28803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Remove Waste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4754880" y="320040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unnecessary processes, delays, and rework.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7360920" y="1783080"/>
            <a:ext cx="731520" cy="73152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58430" y="1980590"/>
            <a:ext cx="336499" cy="336499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6766560" y="265176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C8A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</a:t>
            </a:r>
            <a:endParaRPr lang="en-US" sz="900" dirty="0"/>
          </a:p>
        </p:txBody>
      </p:sp>
      <p:sp>
        <p:nvSpPr>
          <p:cNvPr id="26" name="Text 19"/>
          <p:cNvSpPr txBox="1"/>
          <p:nvPr/>
        </p:nvSpPr>
        <p:spPr>
          <a:xfrm>
            <a:off x="6766560" y="28803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Improving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6858000" y="320040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Continuously improve the way we work.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457200" y="393192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4ECD8"/>
          </a:solidFill>
          <a:ln w="12700">
            <a:solidFill>
              <a:srgbClr val="F4ECD8"/>
            </a:solidFill>
            <a:prstDash val="solid"/>
          </a:ln>
        </p:spPr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4114800"/>
            <a:ext cx="274320" cy="274320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1188720" y="39319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Excellence is not one achievement—it is a daily habit.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awodia Holding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274320"/>
            <a:ext cx="1325880" cy="414337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8A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 ONE TEAM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4754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DAWODIA HOLDING  ·  OUR VALUES</a:t>
            </a:r>
            <a:endParaRPr lang="en-US" sz="800" dirty="0"/>
          </a:p>
        </p:txBody>
      </p:sp>
      <p:sp>
        <p:nvSpPr>
          <p:cNvPr id="5" name="Text 2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64008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Collaboration Creates Results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259080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3A577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40080" y="1691640"/>
            <a:ext cx="548640" cy="548640"/>
          </a:xfrm>
          <a:prstGeom prst="ellipse">
            <a:avLst/>
          </a:prstGeom>
          <a:solidFill>
            <a:srgbClr val="C8A04A"/>
          </a:solidFill>
          <a:ln w="12700">
            <a:solidFill>
              <a:srgbClr val="C8A04A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3" y="1839773"/>
            <a:ext cx="252374" cy="25237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371600" y="1554480"/>
            <a:ext cx="1539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departmental silos.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3276600" y="1463040"/>
            <a:ext cx="259080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3A5776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3459480" y="1691640"/>
            <a:ext cx="548640" cy="548640"/>
          </a:xfrm>
          <a:prstGeom prst="ellipse">
            <a:avLst/>
          </a:prstGeom>
          <a:solidFill>
            <a:srgbClr val="C8A04A"/>
          </a:solidFill>
          <a:ln w="12700">
            <a:solidFill>
              <a:srgbClr val="C8A04A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7613" y="1839773"/>
            <a:ext cx="252374" cy="25237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191000" y="1554480"/>
            <a:ext cx="1539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information and knowledge across the organization.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6096000" y="1463040"/>
            <a:ext cx="259080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3A577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6278880" y="1691640"/>
            <a:ext cx="548640" cy="548640"/>
          </a:xfrm>
          <a:prstGeom prst="ellipse">
            <a:avLst/>
          </a:prstGeom>
          <a:solidFill>
            <a:srgbClr val="C8A04A"/>
          </a:solidFill>
          <a:ln w="12700">
            <a:solidFill>
              <a:srgbClr val="C8A04A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7013" y="1839773"/>
            <a:ext cx="252374" cy="25237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1554480"/>
            <a:ext cx="1539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 problems together instead of working in isolation.</a:t>
            </a:r>
            <a:endParaRPr lang="en-US" sz="1400" dirty="0"/>
          </a:p>
        </p:txBody>
      </p:sp>
      <p:sp>
        <p:nvSpPr>
          <p:cNvPr id="19" name="Shape 13"/>
          <p:cNvSpPr/>
          <p:nvPr/>
        </p:nvSpPr>
        <p:spPr>
          <a:xfrm>
            <a:off x="1866900" y="2697480"/>
            <a:ext cx="259080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3A5776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2049780" y="2926080"/>
            <a:ext cx="548640" cy="548640"/>
          </a:xfrm>
          <a:prstGeom prst="ellipse">
            <a:avLst/>
          </a:prstGeom>
          <a:solidFill>
            <a:srgbClr val="C8A04A"/>
          </a:solidFill>
          <a:ln w="12700">
            <a:solidFill>
              <a:srgbClr val="C8A04A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97913" y="3074213"/>
            <a:ext cx="252374" cy="252374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2781300" y="2788920"/>
            <a:ext cx="1539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openly, professionally, and respectfully.</a:t>
            </a:r>
            <a:endParaRPr lang="en-US" sz="1400" dirty="0"/>
          </a:p>
        </p:txBody>
      </p:sp>
      <p:sp>
        <p:nvSpPr>
          <p:cNvPr id="23" name="Shape 16"/>
          <p:cNvSpPr/>
          <p:nvPr/>
        </p:nvSpPr>
        <p:spPr>
          <a:xfrm>
            <a:off x="4686300" y="2697480"/>
            <a:ext cx="259080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3A5776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4869180" y="2926080"/>
            <a:ext cx="548640" cy="548640"/>
          </a:xfrm>
          <a:prstGeom prst="ellipse">
            <a:avLst/>
          </a:prstGeom>
          <a:solidFill>
            <a:srgbClr val="C8A04A"/>
          </a:solidFill>
          <a:ln w="12700">
            <a:solidFill>
              <a:srgbClr val="C8A04A"/>
            </a:solidFill>
            <a:prstDash val="solid"/>
          </a:ln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17313" y="3074213"/>
            <a:ext cx="252374" cy="252374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5600700" y="2788920"/>
            <a:ext cx="1539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colleagues when challenges arise.</a:t>
            </a:r>
            <a:endParaRPr lang="en-US" sz="1400" dirty="0"/>
          </a:p>
        </p:txBody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" y="4023360"/>
            <a:ext cx="320040" cy="32004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960120" y="39319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8A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Individual effort starts the journey; teamwork completes it.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awodia Holding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0" y="274320"/>
            <a:ext cx="1325880" cy="414337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8A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 INNOVATION &amp; CHANGE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4754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8A94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DAWODIA HOLDING  ·  OUR VALUES</a:t>
            </a:r>
            <a:endParaRPr lang="en-US" sz="800" dirty="0"/>
          </a:p>
        </p:txBody>
      </p:sp>
      <p:sp>
        <p:nvSpPr>
          <p:cNvPr id="5" name="Text 2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4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68580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B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 Forward.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0B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 Smarter.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457200" y="2423160"/>
            <a:ext cx="3200400" cy="2103120"/>
          </a:xfrm>
          <a:prstGeom prst="roundRect">
            <a:avLst>
              <a:gd name="adj" fmla="val 5217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  <a:effectLst>
            <a:outerShdw sx="100000" sy="100000" kx="0" ky="0" algn="bl" rotWithShape="0" blurRad="152400" dist="38100" dir="5400000">
              <a:srgbClr val="0B1F33">
                <a:alpha val="12000"/>
              </a:srgbClr>
            </a:outerShdw>
          </a:effectLst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51760"/>
            <a:ext cx="411480" cy="4114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31520" y="3200400"/>
            <a:ext cx="2697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future belongs to organizations that are willing to evolve.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4114800" y="914400"/>
            <a:ext cx="475488" cy="475488"/>
          </a:xfrm>
          <a:prstGeom prst="ellipse">
            <a:avLst/>
          </a:prstGeom>
          <a:solidFill>
            <a:srgbClr val="F4ECD8"/>
          </a:solidFill>
          <a:ln w="12700">
            <a:solidFill>
              <a:srgbClr val="F4ECD8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3182" y="1042782"/>
            <a:ext cx="218724" cy="21872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754880" y="914400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Embrace technology and digital transformation.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4754880" y="1508760"/>
            <a:ext cx="3931920" cy="0"/>
          </a:xfrm>
          <a:prstGeom prst="line">
            <a:avLst/>
          </a:prstGeom>
          <a:noFill/>
          <a:ln w="9525">
            <a:solidFill>
              <a:srgbClr val="E6EAF0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4114800" y="1645920"/>
            <a:ext cx="475488" cy="475488"/>
          </a:xfrm>
          <a:prstGeom prst="ellipse">
            <a:avLst/>
          </a:prstGeom>
          <a:solidFill>
            <a:srgbClr val="F4ECD8"/>
          </a:solidFill>
          <a:ln w="12700">
            <a:solidFill>
              <a:srgbClr val="F4ECD8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3182" y="1774302"/>
            <a:ext cx="218724" cy="21872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4754880" y="1645920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for smarter and more efficient ways of working.</a:t>
            </a:r>
            <a:endParaRPr lang="en-US" sz="1500" dirty="0"/>
          </a:p>
        </p:txBody>
      </p:sp>
      <p:sp>
        <p:nvSpPr>
          <p:cNvPr id="17" name="Shape 11"/>
          <p:cNvSpPr/>
          <p:nvPr/>
        </p:nvSpPr>
        <p:spPr>
          <a:xfrm>
            <a:off x="4754880" y="2240280"/>
            <a:ext cx="3931920" cy="0"/>
          </a:xfrm>
          <a:prstGeom prst="line">
            <a:avLst/>
          </a:prstGeom>
          <a:noFill/>
          <a:ln w="9525">
            <a:solidFill>
              <a:srgbClr val="E6EAF0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4114800" y="2377440"/>
            <a:ext cx="475488" cy="475488"/>
          </a:xfrm>
          <a:prstGeom prst="ellipse">
            <a:avLst/>
          </a:prstGeom>
          <a:solidFill>
            <a:srgbClr val="F4ECD8"/>
          </a:solidFill>
          <a:ln w="12700">
            <a:solidFill>
              <a:srgbClr val="F4ECD8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43182" y="2505822"/>
            <a:ext cx="218724" cy="218724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4754880" y="2377440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outdated processes constructively.</a:t>
            </a:r>
            <a:endParaRPr lang="en-US" sz="1500" dirty="0"/>
          </a:p>
        </p:txBody>
      </p:sp>
      <p:sp>
        <p:nvSpPr>
          <p:cNvPr id="21" name="Shape 14"/>
          <p:cNvSpPr/>
          <p:nvPr/>
        </p:nvSpPr>
        <p:spPr>
          <a:xfrm>
            <a:off x="4754880" y="2971800"/>
            <a:ext cx="3931920" cy="0"/>
          </a:xfrm>
          <a:prstGeom prst="line">
            <a:avLst/>
          </a:prstGeom>
          <a:noFill/>
          <a:ln w="9525">
            <a:solidFill>
              <a:srgbClr val="E6EAF0"/>
            </a:solidFill>
            <a:prstDash val="solid"/>
          </a:ln>
        </p:spPr>
      </p:sp>
      <p:sp>
        <p:nvSpPr>
          <p:cNvPr id="22" name="Shape 15"/>
          <p:cNvSpPr/>
          <p:nvPr/>
        </p:nvSpPr>
        <p:spPr>
          <a:xfrm>
            <a:off x="4114800" y="3108960"/>
            <a:ext cx="475488" cy="475488"/>
          </a:xfrm>
          <a:prstGeom prst="ellipse">
            <a:avLst/>
          </a:prstGeom>
          <a:solidFill>
            <a:srgbClr val="F4ECD8"/>
          </a:solidFill>
          <a:ln w="12700">
            <a:solidFill>
              <a:srgbClr val="F4ECD8"/>
            </a:solidFill>
            <a:prstDash val="solid"/>
          </a:ln>
        </p:spPr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43182" y="3237342"/>
            <a:ext cx="218724" cy="218724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4754880" y="3108960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data to make better decisions.</a:t>
            </a:r>
            <a:endParaRPr lang="en-US" sz="1500" dirty="0"/>
          </a:p>
        </p:txBody>
      </p:sp>
      <p:sp>
        <p:nvSpPr>
          <p:cNvPr id="25" name="Shape 17"/>
          <p:cNvSpPr/>
          <p:nvPr/>
        </p:nvSpPr>
        <p:spPr>
          <a:xfrm>
            <a:off x="4754880" y="3703320"/>
            <a:ext cx="3931920" cy="0"/>
          </a:xfrm>
          <a:prstGeom prst="line">
            <a:avLst/>
          </a:prstGeom>
          <a:noFill/>
          <a:ln w="9525">
            <a:solidFill>
              <a:srgbClr val="E6EAF0"/>
            </a:solidFill>
            <a:prstDash val="solid"/>
          </a:ln>
        </p:spPr>
      </p:sp>
      <p:sp>
        <p:nvSpPr>
          <p:cNvPr id="26" name="Shape 18"/>
          <p:cNvSpPr/>
          <p:nvPr/>
        </p:nvSpPr>
        <p:spPr>
          <a:xfrm>
            <a:off x="4114800" y="3840480"/>
            <a:ext cx="475488" cy="475488"/>
          </a:xfrm>
          <a:prstGeom prst="ellipse">
            <a:avLst/>
          </a:prstGeom>
          <a:solidFill>
            <a:srgbClr val="F4ECD8"/>
          </a:solidFill>
          <a:ln w="12700">
            <a:solidFill>
              <a:srgbClr val="F4ECD8"/>
            </a:solidFill>
            <a:prstDash val="solid"/>
          </a:ln>
        </p:spPr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43182" y="3968862"/>
            <a:ext cx="218724" cy="218724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4754880" y="3840480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open to change and continuous improvement.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52160" y="0"/>
            <a:ext cx="3291840" cy="5143500"/>
          </a:xfrm>
          <a:prstGeom prst="rect">
            <a:avLst/>
          </a:prstGeom>
        </p:spPr>
      </p:pic>
      <p:pic>
        <p:nvPicPr>
          <p:cNvPr id="3" name="Image 1" descr="Dawodia Holding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274320"/>
            <a:ext cx="1325880" cy="414337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57200" y="2743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8A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 OWNERSHIP &amp; ACCOUNTABILITY</a:t>
            </a:r>
            <a:endParaRPr lang="en-US" sz="1000" dirty="0"/>
          </a:p>
        </p:txBody>
      </p:sp>
      <p:sp>
        <p:nvSpPr>
          <p:cNvPr id="5" name="Text 1"/>
          <p:cNvSpPr txBox="1"/>
          <p:nvPr/>
        </p:nvSpPr>
        <p:spPr>
          <a:xfrm>
            <a:off x="457200" y="4754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8A94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DAWODIA HOLDING  ·  OUR VALUES</a:t>
            </a:r>
            <a:endParaRPr lang="en-US" sz="800" dirty="0"/>
          </a:p>
        </p:txBody>
      </p:sp>
      <p:sp>
        <p:nvSpPr>
          <p:cNvPr id="6" name="Text 2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8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64008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Ownership.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0B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 Results.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18288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8A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1005840" y="18288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responsibility for commitments and deadlines.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237744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8A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1005840" y="23774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problems early and communicate them clearly.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292608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8A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1005840" y="29260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Don’t wait for problems to become crises.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347472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8A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1005840" y="34747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on solutions, not only problems.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457200" y="402336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8A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1005840" y="40233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results and learn from every experience.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6309360" y="1463040"/>
            <a:ext cx="685800" cy="685800"/>
          </a:xfrm>
          <a:prstGeom prst="ellipse">
            <a:avLst/>
          </a:prstGeom>
          <a:solidFill>
            <a:srgbClr val="C8A04A"/>
          </a:solidFill>
          <a:ln w="12700">
            <a:solidFill>
              <a:srgbClr val="C8A04A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4526" y="1648206"/>
            <a:ext cx="315468" cy="31546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309360" y="237744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Ownership turns responsibility into results.</a:t>
            </a:r>
            <a:endParaRPr lang="en-US" sz="2200" dirty="0"/>
          </a:p>
        </p:txBody>
      </p:sp>
      <p:sp>
        <p:nvSpPr>
          <p:cNvPr id="21" name="Text 16"/>
          <p:cNvSpPr txBox="1"/>
          <p:nvPr/>
        </p:nvSpPr>
        <p:spPr>
          <a:xfrm>
            <a:off x="6309360" y="40233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C8A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MESSAGE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awodia Holding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0" y="274320"/>
            <a:ext cx="1325880" cy="414337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8A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 OUR FUTURE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4754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8A94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DAWODIA HOLDING  ·  OUR VALUES</a:t>
            </a:r>
            <a:endParaRPr lang="en-US" sz="800" dirty="0"/>
          </a:p>
        </p:txBody>
      </p:sp>
      <p:sp>
        <p:nvSpPr>
          <p:cNvPr id="5" name="Text 2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4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64008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Tomorrow, Together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457200" y="2377440"/>
            <a:ext cx="1536192" cy="2194560"/>
          </a:xfrm>
          <a:prstGeom prst="roundRect">
            <a:avLst>
              <a:gd name="adj" fmla="val 5952"/>
            </a:avLst>
          </a:prstGeom>
          <a:solidFill>
            <a:srgbClr val="F4F6F9"/>
          </a:solidFill>
          <a:ln w="12700">
            <a:solidFill>
              <a:srgbClr val="E3E8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40080" y="2578608"/>
            <a:ext cx="502920" cy="50292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868" y="2714396"/>
            <a:ext cx="231343" cy="231343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40080" y="3200400"/>
            <a:ext cx="12618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Strengthen our organization through people, processes, and technology.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2130552" y="2148840"/>
            <a:ext cx="1536192" cy="2423160"/>
          </a:xfrm>
          <a:prstGeom prst="roundRect">
            <a:avLst>
              <a:gd name="adj" fmla="val 5952"/>
            </a:avLst>
          </a:prstGeom>
          <a:solidFill>
            <a:srgbClr val="F4F6F9"/>
          </a:solidFill>
          <a:ln w="12700">
            <a:solidFill>
              <a:srgbClr val="E3E8E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313432" y="2350008"/>
            <a:ext cx="502920" cy="50292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9220" y="2485796"/>
            <a:ext cx="231343" cy="23134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313432" y="2971800"/>
            <a:ext cx="12618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culture of trust, accountability, and innovation.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3803904" y="1920240"/>
            <a:ext cx="1536192" cy="2651760"/>
          </a:xfrm>
          <a:prstGeom prst="roundRect">
            <a:avLst>
              <a:gd name="adj" fmla="val 5952"/>
            </a:avLst>
          </a:prstGeom>
          <a:solidFill>
            <a:srgbClr val="F4F6F9"/>
          </a:solidFill>
          <a:ln w="12700">
            <a:solidFill>
              <a:srgbClr val="E3E8EF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3986784" y="2121408"/>
            <a:ext cx="502920" cy="50292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2572" y="2257196"/>
            <a:ext cx="231343" cy="23134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3986784" y="2743200"/>
            <a:ext cx="1261872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 challenges into opportunities.</a:t>
            </a:r>
            <a:endParaRPr lang="en-US" sz="1300" dirty="0"/>
          </a:p>
        </p:txBody>
      </p:sp>
      <p:sp>
        <p:nvSpPr>
          <p:cNvPr id="19" name="Shape 13"/>
          <p:cNvSpPr/>
          <p:nvPr/>
        </p:nvSpPr>
        <p:spPr>
          <a:xfrm>
            <a:off x="5477256" y="1691640"/>
            <a:ext cx="1536192" cy="2880360"/>
          </a:xfrm>
          <a:prstGeom prst="roundRect">
            <a:avLst>
              <a:gd name="adj" fmla="val 5952"/>
            </a:avLst>
          </a:prstGeom>
          <a:solidFill>
            <a:srgbClr val="F4F6F9"/>
          </a:solidFill>
          <a:ln w="12700">
            <a:solidFill>
              <a:srgbClr val="E3E8EF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5660136" y="1892808"/>
            <a:ext cx="502920" cy="50292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95924" y="2028596"/>
            <a:ext cx="231343" cy="231343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5660136" y="2514600"/>
            <a:ext cx="126187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sustainable growth for Dawodia Holding.</a:t>
            </a:r>
            <a:endParaRPr lang="en-US" sz="1300" dirty="0"/>
          </a:p>
        </p:txBody>
      </p:sp>
      <p:sp>
        <p:nvSpPr>
          <p:cNvPr id="23" name="Shape 16"/>
          <p:cNvSpPr/>
          <p:nvPr/>
        </p:nvSpPr>
        <p:spPr>
          <a:xfrm>
            <a:off x="7150608" y="1463040"/>
            <a:ext cx="1536192" cy="3108960"/>
          </a:xfrm>
          <a:prstGeom prst="roundRect">
            <a:avLst>
              <a:gd name="adj" fmla="val 5952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7333488" y="1664208"/>
            <a:ext cx="502920" cy="502920"/>
          </a:xfrm>
          <a:prstGeom prst="ellipse">
            <a:avLst/>
          </a:prstGeom>
          <a:solidFill>
            <a:srgbClr val="C8A04A"/>
          </a:solidFill>
          <a:ln w="12700">
            <a:solidFill>
              <a:srgbClr val="C8A04A"/>
            </a:solidFill>
            <a:prstDash val="solid"/>
          </a:ln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69276" y="1799996"/>
            <a:ext cx="231343" cy="231343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333488" y="2286000"/>
            <a:ext cx="126187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a stronger organization for the next generation.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awodia Holding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274320"/>
            <a:ext cx="1325880" cy="414337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97280"/>
            <a:ext cx="548640" cy="5486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1828800"/>
            <a:ext cx="7863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3000" dirty="0">
                <a:solidFill>
                  <a:srgbClr val="D5DE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future is not something we wait for.</a:t>
            </a:r>
            <a:endParaRPr lang="en-US" sz="3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future is something we build—</a:t>
            </a:r>
            <a:pPr indent="0" marL="0">
              <a:spcAft>
                <a:spcPts val="800"/>
              </a:spcAft>
              <a:buNone/>
            </a:pPr>
            <a:r>
              <a:rPr lang="en-US" sz="3000" b="1" dirty="0">
                <a:solidFill>
                  <a:srgbClr val="C8A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together.</a:t>
            </a:r>
            <a:endParaRPr lang="en-US" sz="30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4114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8A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11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44348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Dawodia Holding  ·  One Organization. One Vision. One Direction.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Dawodia Holding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Our Values &amp; Direction</dc:title>
  <dc:subject>PptxGenJS Presentation</dc:subject>
  <dc:creator>Dawodia Holding</dc:creator>
  <cp:lastModifiedBy>Dawodia Holding</cp:lastModifiedBy>
  <cp:revision>1</cp:revision>
  <dcterms:created xsi:type="dcterms:W3CDTF">2026-09-28T08:01:40Z</dcterms:created>
  <dcterms:modified xsi:type="dcterms:W3CDTF">2026-09-28T08:01:40Z</dcterms:modified>
</cp:coreProperties>
</file>