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 walk through the values that unite Dawodia Holding: our purpose, our people, how we execute, how we work as one team, how we innovate, how we take ownership, and the future we are building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one organization. Every department plays a role, and our daily decisions should support Dawodia Holding's long-term vision. Key message: Together, we turn our vision into reality.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people are our greatest strength. We empower ownership, encourage learning, respect every role, and build an environment where everyone can grow. Key message: Strong people build strong organizations.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Excellence in execution: set clear, measurable targets; focus on quality, efficiency and timely delivery; remove unnecessary processes, delays and rework; and continuously improve. Key message: Excellence is not one achievement—it is a daily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team: break silos, share knowledge, solve problems together, communicate openly and respectfully, and support colleagues through challenges. Key message: Individual effort starts the journey; teamwork completes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Innovation and change: embrace technology and digital transformation, look for smarter ways of working, challenge outdated processes constructively, use data for better decisions, and stay open to change. Key message: The future belongs to organizations that are willing to evolve.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Ownership and accountability: own commitments and deadlines, raise problems early and clearly, don't let issues become crises, focus on solutions, and learn from every result. Key message: Ownership turns responsibility into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future: strengthen the organization through people, processes and technology; build a culture of trust, accountability and innovation; turn challenges into opportunities; create sustainable growth; and leave a stronger organization for the next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Our future is not something we wait for. Our future is something we build—together.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wodia Holding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45920" y="566928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DAWODIA</a:t>
            </a:r>
            <a:endParaRPr lang="en-US" sz="2000" dirty="0"/>
          </a:p>
          <a:p>
            <a:pPr indent="0" marL="0">
              <a:buNone/>
            </a:pPr>
            <a:r>
              <a:rPr lang="en-US" sz="1100" spc="1000" kern="0" dirty="0">
                <a:solidFill>
                  <a:srgbClr val="D6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6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VALUES  ·  2026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574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Values,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Direction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1E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Organization. One Vision. One Direction.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2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  ·   People   ·   Excellence   ·   One Team   ·   Innovation   ·   Ownership   ·   Future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640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6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1E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PURPOSE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Organization.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Vision.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Direction.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2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DAWODIA HOLDING  ·  OUR VALUES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8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pic>
        <p:nvPicPr>
          <p:cNvPr id="8" name="Image 1" descr="Dawodia Holding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82880"/>
            <a:ext cx="566928" cy="56692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14800" y="960120"/>
            <a:ext cx="502920" cy="502920"/>
          </a:xfrm>
          <a:prstGeom prst="ellipse">
            <a:avLst/>
          </a:prstGeom>
          <a:solidFill>
            <a:srgbClr val="F9E8EE"/>
          </a:solidFill>
          <a:ln w="12700">
            <a:solidFill>
              <a:srgbClr val="F9E8EE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588" y="1095908"/>
            <a:ext cx="231343" cy="23134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00600" y="9601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more than individual departments—we are one organization.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114800" y="1673352"/>
            <a:ext cx="502920" cy="502920"/>
          </a:xfrm>
          <a:prstGeom prst="ellipse">
            <a:avLst/>
          </a:prstGeom>
          <a:solidFill>
            <a:srgbClr val="F9E8EE"/>
          </a:solidFill>
          <a:ln w="12700">
            <a:solidFill>
              <a:srgbClr val="F9E8EE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588" y="1809140"/>
            <a:ext cx="231343" cy="23134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800600" y="167335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department contributes to the success of Dawodia Holding.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4114800" y="2386584"/>
            <a:ext cx="502920" cy="502920"/>
          </a:xfrm>
          <a:prstGeom prst="ellipse">
            <a:avLst/>
          </a:prstGeom>
          <a:solidFill>
            <a:srgbClr val="F9E8EE"/>
          </a:solidFill>
          <a:ln w="12700">
            <a:solidFill>
              <a:srgbClr val="F9E8EE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0588" y="2522372"/>
            <a:ext cx="231343" cy="231343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800600" y="238658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daily decisions should support the company’s long-term vision.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4114800" y="3099816"/>
            <a:ext cx="502920" cy="502920"/>
          </a:xfrm>
          <a:prstGeom prst="ellipse">
            <a:avLst/>
          </a:prstGeom>
          <a:solidFill>
            <a:srgbClr val="F9E8EE"/>
          </a:solidFill>
          <a:ln w="12700">
            <a:solidFill>
              <a:srgbClr val="F9E8EE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0588" y="3235604"/>
            <a:ext cx="231343" cy="231343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800600" y="309981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move in one direction, our collective impact becomes stronger.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4114800" y="384048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4A0F26"/>
          </a:solidFill>
          <a:ln w="12700">
            <a:solidFill>
              <a:srgbClr val="4A0F26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4050792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754880" y="3840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Together, we turn our vision into reality.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wodia Holdin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8288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3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OUR PEOPLE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8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DAWODIA HOLDING  ·  OUR VALUES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8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Are Our Greatest Strength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52400" dist="38100" dir="5400000">
              <a:srgbClr val="4A0F26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737360"/>
            <a:ext cx="457200" cy="457200"/>
          </a:xfrm>
          <a:prstGeom prst="ellipse">
            <a:avLst/>
          </a:prstGeom>
          <a:solidFill>
            <a:srgbClr val="4A0F26"/>
          </a:solidFill>
          <a:ln w="12700">
            <a:solidFill>
              <a:srgbClr val="4A0F2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186080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1737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people to take ownership of their responsibilities.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337560" y="150876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52400" dist="38100" dir="5400000">
              <a:srgbClr val="4A0F26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66160" y="1737360"/>
            <a:ext cx="457200" cy="457200"/>
          </a:xfrm>
          <a:prstGeom prst="ellipse">
            <a:avLst/>
          </a:prstGeom>
          <a:solidFill>
            <a:srgbClr val="4A0F26"/>
          </a:solidFill>
          <a:ln w="12700">
            <a:solidFill>
              <a:srgbClr val="4A0F2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04" y="186080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160520" y="1737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56616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learning, development, and knowledge sharing.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57200" y="32461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52400" dist="38100" dir="5400000">
              <a:srgbClr val="4A0F26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85800" y="3474720"/>
            <a:ext cx="457200" cy="457200"/>
          </a:xfrm>
          <a:prstGeom prst="ellipse">
            <a:avLst/>
          </a:prstGeom>
          <a:solidFill>
            <a:srgbClr val="4A0F26"/>
          </a:solidFill>
          <a:ln w="12700">
            <a:solidFill>
              <a:srgbClr val="4A0F2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3598164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80160" y="3474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8580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every role and recognize every contribution.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3337560" y="32461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52400" dist="38100" dir="5400000">
              <a:srgbClr val="4A0F26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566160" y="3474720"/>
            <a:ext cx="457200" cy="457200"/>
          </a:xfrm>
          <a:prstGeom prst="ellipse">
            <a:avLst/>
          </a:prstGeom>
          <a:solidFill>
            <a:srgbClr val="4A0F26"/>
          </a:solidFill>
          <a:ln w="12700">
            <a:solidFill>
              <a:srgbClr val="4A0F26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604" y="3598164"/>
            <a:ext cx="210312" cy="21031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160520" y="3474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356616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environment where employees can grow and succeed.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6172200" y="1508760"/>
            <a:ext cx="2514600" cy="3200400"/>
          </a:xfrm>
          <a:prstGeom prst="roundRect">
            <a:avLst>
              <a:gd name="adj" fmla="val 4364"/>
            </a:avLst>
          </a:prstGeom>
          <a:solidFill>
            <a:srgbClr val="4A0F26"/>
          </a:solidFill>
          <a:ln w="12700">
            <a:solidFill>
              <a:srgbClr val="4A0F26"/>
            </a:solidFill>
            <a:prstDash val="solid"/>
          </a:ln>
          <a:effectLst>
            <a:outerShdw sx="100000" sy="100000" kx="0" ky="0" algn="bl" rotWithShape="0" blurRad="152400" dist="38100" dir="5400000">
              <a:srgbClr val="4A0F26">
                <a:alpha val="12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783080"/>
            <a:ext cx="411480" cy="41148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446520" y="237744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people build strong organizations.</a:t>
            </a:r>
            <a:endParaRPr lang="en-US" sz="2200" dirty="0"/>
          </a:p>
        </p:txBody>
      </p:sp>
      <p:sp>
        <p:nvSpPr>
          <p:cNvPr id="30" name="Text 22"/>
          <p:cNvSpPr txBox="1"/>
          <p:nvPr/>
        </p:nvSpPr>
        <p:spPr>
          <a:xfrm>
            <a:off x="644652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6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wodia Holdin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8288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3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EXCELLENCE IN EXECUTION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8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DAWODIA HOLDING  ·  OUR VALUES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8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Right. </a:t>
            </a:r>
            <a:pPr indent="0" marL="0">
              <a:buNone/>
            </a:pPr>
            <a:r>
              <a:rPr lang="en-US" sz="2800" b="1" dirty="0">
                <a:solidFill>
                  <a:srgbClr val="4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Better. </a:t>
            </a:r>
            <a:pPr indent="0" marL="0">
              <a:buNone/>
            </a:pPr>
            <a:r>
              <a:rPr lang="en-US" sz="2800" b="1" dirty="0">
                <a:solidFill>
                  <a:srgbClr val="B83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Consistently.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417320" y="2148840"/>
            <a:ext cx="6309360" cy="0"/>
          </a:xfrm>
          <a:prstGeom prst="line">
            <a:avLst/>
          </a:prstGeom>
          <a:noFill/>
          <a:ln w="19050">
            <a:solidFill>
              <a:srgbClr val="E3A5B8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1051560" y="1783080"/>
            <a:ext cx="731520" cy="731520"/>
          </a:xfrm>
          <a:prstGeom prst="ellipse">
            <a:avLst/>
          </a:prstGeom>
          <a:solidFill>
            <a:srgbClr val="4A0F26"/>
          </a:solidFill>
          <a:ln w="12700">
            <a:solidFill>
              <a:srgbClr val="4A0F2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070" y="1980590"/>
            <a:ext cx="336499" cy="33649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2651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3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Targets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200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clear objectives and measurable targets.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154680" y="1783080"/>
            <a:ext cx="731520" cy="731520"/>
          </a:xfrm>
          <a:prstGeom prst="ellipse">
            <a:avLst/>
          </a:prstGeom>
          <a:solidFill>
            <a:srgbClr val="4A0F26"/>
          </a:solidFill>
          <a:ln w="12700">
            <a:solidFill>
              <a:srgbClr val="4A0F2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190" y="1980590"/>
            <a:ext cx="336499" cy="33649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560320" y="2651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3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2560320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Speed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2651760" y="3200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quality, efficiency, and timely delivery.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257800" y="1783080"/>
            <a:ext cx="731520" cy="731520"/>
          </a:xfrm>
          <a:prstGeom prst="ellipse">
            <a:avLst/>
          </a:prstGeom>
          <a:solidFill>
            <a:srgbClr val="4A0F26"/>
          </a:solidFill>
          <a:ln w="12700">
            <a:solidFill>
              <a:srgbClr val="4A0F2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310" y="1980590"/>
            <a:ext cx="336499" cy="33649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663440" y="2651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3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4663440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Waste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754880" y="3200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unnecessary processes, delays, and rework.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360920" y="1783080"/>
            <a:ext cx="731520" cy="731520"/>
          </a:xfrm>
          <a:prstGeom prst="ellipse">
            <a:avLst/>
          </a:prstGeom>
          <a:solidFill>
            <a:srgbClr val="4A0F26"/>
          </a:solidFill>
          <a:ln w="12700">
            <a:solidFill>
              <a:srgbClr val="4A0F26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430" y="1980590"/>
            <a:ext cx="336499" cy="336499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766560" y="2651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3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6766560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Improving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6858000" y="3200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improve the way we work.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9E8EE"/>
          </a:solidFill>
          <a:ln w="12700">
            <a:solidFill>
              <a:srgbClr val="F9E8EE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11480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18872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0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Excellence is not one achievement—it is a daily habit.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wodia Holding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8288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6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ONE TEAM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D2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DAWODIA HOLDING  ·  OUR VALUES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Creates Results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59080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C567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D6D9DE"/>
          </a:solidFill>
          <a:ln w="12700">
            <a:solidFill>
              <a:srgbClr val="D6D9D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183977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1554480"/>
            <a:ext cx="153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departmental silos.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276600" y="1463040"/>
            <a:ext cx="259080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C567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459480" y="1691640"/>
            <a:ext cx="548640" cy="548640"/>
          </a:xfrm>
          <a:prstGeom prst="ellipse">
            <a:avLst/>
          </a:prstGeom>
          <a:solidFill>
            <a:srgbClr val="D6D9DE"/>
          </a:solidFill>
          <a:ln w="12700">
            <a:solidFill>
              <a:srgbClr val="D6D9D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613" y="183977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91000" y="1554480"/>
            <a:ext cx="153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information and knowledge across the organization.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096000" y="1463040"/>
            <a:ext cx="259080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C567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278880" y="1691640"/>
            <a:ext cx="548640" cy="548640"/>
          </a:xfrm>
          <a:prstGeom prst="ellipse">
            <a:avLst/>
          </a:prstGeom>
          <a:solidFill>
            <a:srgbClr val="D6D9DE"/>
          </a:solidFill>
          <a:ln w="12700">
            <a:solidFill>
              <a:srgbClr val="D6D9D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013" y="1839773"/>
            <a:ext cx="252374" cy="25237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1554480"/>
            <a:ext cx="153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problems together instead of working in isolation.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1866900" y="2697480"/>
            <a:ext cx="259080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C567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2049780" y="2926080"/>
            <a:ext cx="548640" cy="548640"/>
          </a:xfrm>
          <a:prstGeom prst="ellipse">
            <a:avLst/>
          </a:prstGeom>
          <a:solidFill>
            <a:srgbClr val="D6D9DE"/>
          </a:solidFill>
          <a:ln w="12700">
            <a:solidFill>
              <a:srgbClr val="D6D9D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7913" y="3074213"/>
            <a:ext cx="252374" cy="25237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2781300" y="2788920"/>
            <a:ext cx="153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openly, professionally, and respectfully.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4686300" y="2697480"/>
            <a:ext cx="259080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C5670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869180" y="2926080"/>
            <a:ext cx="548640" cy="548640"/>
          </a:xfrm>
          <a:prstGeom prst="ellipse">
            <a:avLst/>
          </a:prstGeom>
          <a:solidFill>
            <a:srgbClr val="D6D9DE"/>
          </a:solidFill>
          <a:ln w="12700">
            <a:solidFill>
              <a:srgbClr val="D6D9D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7313" y="3074213"/>
            <a:ext cx="252374" cy="25237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600700" y="2788920"/>
            <a:ext cx="153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colleagues when challenges arise.</a:t>
            </a:r>
            <a:endParaRPr lang="en-US" sz="14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023360"/>
            <a:ext cx="320040" cy="32004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60120" y="39319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A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effort starts the journey; teamwork completes it.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wodia Holdin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8288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3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INNOVATION &amp; CHANGE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8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DAWODIA HOLDING  ·  OUR VALUES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8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858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Forward.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4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Smarter.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242316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4A0F26"/>
          </a:solidFill>
          <a:ln w="12700">
            <a:solidFill>
              <a:srgbClr val="4A0F26"/>
            </a:solidFill>
            <a:prstDash val="solid"/>
          </a:ln>
          <a:effectLst>
            <a:outerShdw sx="100000" sy="100000" kx="0" ky="0" algn="bl" rotWithShape="0" blurRad="152400" dist="38100" dir="5400000">
              <a:srgbClr val="4A0F26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517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32004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 belongs to organizations that are willing to evolve.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114800" y="914400"/>
            <a:ext cx="475488" cy="475488"/>
          </a:xfrm>
          <a:prstGeom prst="ellipse">
            <a:avLst/>
          </a:prstGeom>
          <a:solidFill>
            <a:srgbClr val="F9E8EE"/>
          </a:solidFill>
          <a:ln w="12700">
            <a:solidFill>
              <a:srgbClr val="F9E8E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182" y="1042782"/>
            <a:ext cx="218724" cy="21872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754880" y="9144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Embrace technology and digital transformation.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754880" y="1508760"/>
            <a:ext cx="3931920" cy="0"/>
          </a:xfrm>
          <a:prstGeom prst="line">
            <a:avLst/>
          </a:prstGeom>
          <a:noFill/>
          <a:ln w="9525">
            <a:solidFill>
              <a:srgbClr val="E6EAF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114800" y="1645920"/>
            <a:ext cx="475488" cy="475488"/>
          </a:xfrm>
          <a:prstGeom prst="ellipse">
            <a:avLst/>
          </a:prstGeom>
          <a:solidFill>
            <a:srgbClr val="F9E8EE"/>
          </a:solidFill>
          <a:ln w="12700">
            <a:solidFill>
              <a:srgbClr val="F9E8E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182" y="1774302"/>
            <a:ext cx="218724" cy="2187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754880" y="16459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smarter and more efficient ways of working.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4754880" y="2240280"/>
            <a:ext cx="3931920" cy="0"/>
          </a:xfrm>
          <a:prstGeom prst="line">
            <a:avLst/>
          </a:prstGeom>
          <a:noFill/>
          <a:ln w="9525">
            <a:solidFill>
              <a:srgbClr val="E6EAF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114800" y="2377440"/>
            <a:ext cx="475488" cy="475488"/>
          </a:xfrm>
          <a:prstGeom prst="ellipse">
            <a:avLst/>
          </a:prstGeom>
          <a:solidFill>
            <a:srgbClr val="F9E8EE"/>
          </a:solidFill>
          <a:ln w="12700">
            <a:solidFill>
              <a:srgbClr val="F9E8EE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3182" y="2505822"/>
            <a:ext cx="218724" cy="21872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754880" y="23774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outdated processes constructively.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754880" y="2971800"/>
            <a:ext cx="3931920" cy="0"/>
          </a:xfrm>
          <a:prstGeom prst="line">
            <a:avLst/>
          </a:prstGeom>
          <a:noFill/>
          <a:ln w="9525">
            <a:solidFill>
              <a:srgbClr val="E6EAF0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114800" y="3108960"/>
            <a:ext cx="475488" cy="475488"/>
          </a:xfrm>
          <a:prstGeom prst="ellipse">
            <a:avLst/>
          </a:prstGeom>
          <a:solidFill>
            <a:srgbClr val="F9E8EE"/>
          </a:solidFill>
          <a:ln w="12700">
            <a:solidFill>
              <a:srgbClr val="F9E8EE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3182" y="3237342"/>
            <a:ext cx="218724" cy="21872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754880" y="31089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to make better decisions.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4754880" y="3703320"/>
            <a:ext cx="3931920" cy="0"/>
          </a:xfrm>
          <a:prstGeom prst="line">
            <a:avLst/>
          </a:prstGeom>
          <a:noFill/>
          <a:ln w="9525">
            <a:solidFill>
              <a:srgbClr val="E6EAF0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4114800" y="3840480"/>
            <a:ext cx="475488" cy="475488"/>
          </a:xfrm>
          <a:prstGeom prst="ellipse">
            <a:avLst/>
          </a:prstGeom>
          <a:solidFill>
            <a:srgbClr val="F9E8EE"/>
          </a:solidFill>
          <a:ln w="12700">
            <a:solidFill>
              <a:srgbClr val="F9E8EE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3182" y="3968862"/>
            <a:ext cx="218724" cy="21872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4754880" y="38404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open to change and continuous improvement.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0"/>
            <a:ext cx="3291840" cy="5143500"/>
          </a:xfrm>
          <a:prstGeom prst="rect">
            <a:avLst/>
          </a:prstGeom>
        </p:spPr>
      </p:pic>
      <p:pic>
        <p:nvPicPr>
          <p:cNvPr id="3" name="Image 1" descr="Dawodia Holding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82880"/>
            <a:ext cx="566928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3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OWNERSHIP &amp; ACCOUNTABILITY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8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DAWODIA HOLDING  ·  OUR VALUES</a:t>
            </a:r>
            <a:endParaRPr lang="en-US" sz="800" dirty="0"/>
          </a:p>
        </p:txBody>
      </p:sp>
      <p:sp>
        <p:nvSpPr>
          <p:cNvPr id="6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400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Ownership.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4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Results.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18288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3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responsibility for commitments and deadlines.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3774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3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00584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problems early and communicate them clearly.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3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00584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wait for problems to become crises.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3474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3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00584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solutions, not only problems.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023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3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005840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results and learn from every experience.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309360" y="1463040"/>
            <a:ext cx="685800" cy="685800"/>
          </a:xfrm>
          <a:prstGeom prst="ellipse">
            <a:avLst/>
          </a:prstGeom>
          <a:solidFill>
            <a:srgbClr val="D6D9DE"/>
          </a:solidFill>
          <a:ln w="12700">
            <a:solidFill>
              <a:srgbClr val="D6D9D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526" y="1648206"/>
            <a:ext cx="315468" cy="3154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09360" y="23774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 turns responsibility into results.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6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wodia Holdin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8288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3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 OUR FUTURE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8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DAWODIA HOLDING  ·  OUR VALUES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8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Tomorrow, Together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1536192" cy="2194560"/>
          </a:xfrm>
          <a:prstGeom prst="roundRect">
            <a:avLst>
              <a:gd name="adj" fmla="val 5952"/>
            </a:avLst>
          </a:prstGeom>
          <a:solidFill>
            <a:srgbClr val="F6F4F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578608"/>
            <a:ext cx="502920" cy="502920"/>
          </a:xfrm>
          <a:prstGeom prst="ellipse">
            <a:avLst/>
          </a:prstGeom>
          <a:solidFill>
            <a:srgbClr val="4A0F26"/>
          </a:solidFill>
          <a:ln w="12700">
            <a:solidFill>
              <a:srgbClr val="4A0F2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68" y="2714396"/>
            <a:ext cx="231343" cy="231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3200400"/>
            <a:ext cx="12618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our organization through people, processes, and technology.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130552" y="2148840"/>
            <a:ext cx="1536192" cy="2423160"/>
          </a:xfrm>
          <a:prstGeom prst="roundRect">
            <a:avLst>
              <a:gd name="adj" fmla="val 5952"/>
            </a:avLst>
          </a:prstGeom>
          <a:solidFill>
            <a:srgbClr val="F6F4F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313432" y="2350008"/>
            <a:ext cx="502920" cy="502920"/>
          </a:xfrm>
          <a:prstGeom prst="ellipse">
            <a:avLst/>
          </a:prstGeom>
          <a:solidFill>
            <a:srgbClr val="4A0F26"/>
          </a:solidFill>
          <a:ln w="12700">
            <a:solidFill>
              <a:srgbClr val="4A0F2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220" y="2485796"/>
            <a:ext cx="231343" cy="231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313432" y="2971800"/>
            <a:ext cx="1261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culture of trust, accountability, and innovation.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3803904" y="1920240"/>
            <a:ext cx="1536192" cy="2651760"/>
          </a:xfrm>
          <a:prstGeom prst="roundRect">
            <a:avLst>
              <a:gd name="adj" fmla="val 5952"/>
            </a:avLst>
          </a:prstGeom>
          <a:solidFill>
            <a:srgbClr val="F6F4F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986784" y="2121408"/>
            <a:ext cx="502920" cy="502920"/>
          </a:xfrm>
          <a:prstGeom prst="ellipse">
            <a:avLst/>
          </a:prstGeom>
          <a:solidFill>
            <a:srgbClr val="4A0F26"/>
          </a:solidFill>
          <a:ln w="12700">
            <a:solidFill>
              <a:srgbClr val="4A0F2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572" y="2257196"/>
            <a:ext cx="231343" cy="231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986784" y="2743200"/>
            <a:ext cx="12618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challenges into opportunities.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77256" y="1691640"/>
            <a:ext cx="1536192" cy="2880360"/>
          </a:xfrm>
          <a:prstGeom prst="roundRect">
            <a:avLst>
              <a:gd name="adj" fmla="val 5952"/>
            </a:avLst>
          </a:prstGeom>
          <a:solidFill>
            <a:srgbClr val="F6F4F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660136" y="1892808"/>
            <a:ext cx="502920" cy="502920"/>
          </a:xfrm>
          <a:prstGeom prst="ellipse">
            <a:avLst/>
          </a:prstGeom>
          <a:solidFill>
            <a:srgbClr val="4A0F26"/>
          </a:solidFill>
          <a:ln w="12700">
            <a:solidFill>
              <a:srgbClr val="4A0F26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924" y="2028596"/>
            <a:ext cx="231343" cy="23134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660136" y="2514600"/>
            <a:ext cx="12618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sustainable growth for Dawodia Holding.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7150608" y="1463040"/>
            <a:ext cx="1536192" cy="3108960"/>
          </a:xfrm>
          <a:prstGeom prst="roundRect">
            <a:avLst>
              <a:gd name="adj" fmla="val 5952"/>
            </a:avLst>
          </a:prstGeom>
          <a:solidFill>
            <a:srgbClr val="4A0F26"/>
          </a:solidFill>
          <a:ln w="12700">
            <a:solidFill>
              <a:srgbClr val="4A0F26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333488" y="1664208"/>
            <a:ext cx="502920" cy="502920"/>
          </a:xfrm>
          <a:prstGeom prst="ellipse">
            <a:avLst/>
          </a:prstGeom>
          <a:solidFill>
            <a:srgbClr val="D6D9DE"/>
          </a:solidFill>
          <a:ln w="12700">
            <a:solidFill>
              <a:srgbClr val="D6D9D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9276" y="1799996"/>
            <a:ext cx="231343" cy="231343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333488" y="2286000"/>
            <a:ext cx="12618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 stronger organization for the next generation.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wodia Holding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82880"/>
            <a:ext cx="566928" cy="56692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54864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3000" dirty="0">
                <a:solidFill>
                  <a:srgbClr val="F1E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future is not something we wait for.</a:t>
            </a:r>
            <a:endParaRPr lang="en-US" sz="3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future is something we build—</a:t>
            </a:r>
            <a:pPr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2A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together.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6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Dawodia Holding  ·  One Organization. One Vision. One Direction.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Dawodia Holding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Values &amp; Direction</dc:title>
  <dc:subject>PptxGenJS Presentation</dc:subject>
  <dc:creator>Dawodia Holding</dc:creator>
  <cp:lastModifiedBy>Dawodia Holding</cp:lastModifiedBy>
  <cp:revision>1</cp:revision>
  <dcterms:created xsi:type="dcterms:W3CDTF">2026-09-28T08:06:17Z</dcterms:created>
  <dcterms:modified xsi:type="dcterms:W3CDTF">2026-09-28T08:06:17Z</dcterms:modified>
</cp:coreProperties>
</file>